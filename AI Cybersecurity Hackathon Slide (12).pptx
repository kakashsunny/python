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Calibri (MS) Bold" charset="1" panose="020F0702030404030204"/>
      <p:regular r:id="rId7"/>
    </p:embeddedFont>
    <p:embeddedFont>
      <p:font typeface="Calibri (MS)" charset="1" panose="020F0502020204030204"/>
      <p:regular r:id="rId8"/>
    </p:embeddedFont>
    <p:embeddedFont>
      <p:font typeface="Cambria" charset="1" panose="0204050305040603020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202436"/>
            <a:chOff x="0" y="0"/>
            <a:chExt cx="12192000" cy="8016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92000" cy="801624"/>
            </a:xfrm>
            <a:custGeom>
              <a:avLst/>
              <a:gdLst/>
              <a:ahLst/>
              <a:cxnLst/>
              <a:rect r="r" b="b" t="t" l="l"/>
              <a:pathLst>
                <a:path h="801624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01624"/>
                  </a:lnTo>
                  <a:lnTo>
                    <a:pt x="0" y="801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7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08666" y="9427750"/>
            <a:ext cx="18288000" cy="695725"/>
            <a:chOff x="0" y="0"/>
            <a:chExt cx="12192000" cy="4638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92000" cy="463804"/>
            </a:xfrm>
            <a:custGeom>
              <a:avLst/>
              <a:gdLst/>
              <a:ahLst/>
              <a:cxnLst/>
              <a:rect r="r" b="b" t="t" l="l"/>
              <a:pathLst>
                <a:path h="463804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463804"/>
                  </a:lnTo>
                  <a:lnTo>
                    <a:pt x="0" y="4638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2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582682" y="3909574"/>
            <a:ext cx="17177518" cy="5308625"/>
          </a:xfrm>
          <a:custGeom>
            <a:avLst/>
            <a:gdLst/>
            <a:ahLst/>
            <a:cxnLst/>
            <a:rect r="r" b="b" t="t" l="l"/>
            <a:pathLst>
              <a:path h="5308625" w="17177518">
                <a:moveTo>
                  <a:pt x="0" y="0"/>
                </a:moveTo>
                <a:lnTo>
                  <a:pt x="17177519" y="0"/>
                </a:lnTo>
                <a:lnTo>
                  <a:pt x="17177519" y="5308626"/>
                </a:lnTo>
                <a:lnTo>
                  <a:pt x="0" y="53086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63640" y="3594030"/>
            <a:ext cx="3297174" cy="315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b="true" sz="1704" spc="397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FOUR-STAGE EVOLUTION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8136" y="4173017"/>
            <a:ext cx="367855" cy="514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1"/>
              </a:lnSpc>
            </a:pPr>
            <a:r>
              <a:rPr lang="en-US" b="true" sz="2808">
                <a:solidFill>
                  <a:srgbClr val="00B4D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49754" y="4173017"/>
            <a:ext cx="367855" cy="514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1"/>
              </a:lnSpc>
            </a:pPr>
            <a:r>
              <a:rPr lang="en-US" b="true" sz="2808">
                <a:solidFill>
                  <a:srgbClr val="0077B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11620" y="4173017"/>
            <a:ext cx="367855" cy="514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1"/>
              </a:lnSpc>
            </a:pPr>
            <a:r>
              <a:rPr lang="en-US" b="true" sz="2808">
                <a:solidFill>
                  <a:srgbClr val="F4A02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873220" y="4173017"/>
            <a:ext cx="367855" cy="514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1"/>
              </a:lnSpc>
            </a:pPr>
            <a:r>
              <a:rPr lang="en-US" b="true" sz="2808">
                <a:solidFill>
                  <a:srgbClr val="2E7D3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02300" y="4298042"/>
            <a:ext cx="1044797" cy="2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b="true" sz="1296" spc="191">
                <a:solidFill>
                  <a:srgbClr val="00897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NEAR-TERM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22078" y="4298042"/>
            <a:ext cx="926668" cy="2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b="true" sz="1296" spc="189">
                <a:solidFill>
                  <a:srgbClr val="1565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MID-TERM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83696" y="4298042"/>
            <a:ext cx="926668" cy="2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b="true" sz="1296" spc="189">
                <a:solidFill>
                  <a:srgbClr val="1565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MID-TERM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481306" y="4298042"/>
            <a:ext cx="1060342" cy="246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4"/>
              </a:lnSpc>
            </a:pPr>
            <a:r>
              <a:rPr lang="en-US" b="true" sz="1296" spc="193">
                <a:solidFill>
                  <a:srgbClr val="6A1B9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LONG-TERM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4712" y="4962144"/>
            <a:ext cx="1623803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Web Control Plane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386330" y="4962144"/>
            <a:ext cx="1502245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Adaptive AI Security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48196" y="4962144"/>
            <a:ext cx="1556347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Enterprise Integrations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909796" y="4962144"/>
            <a:ext cx="1317574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 spc="4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Global AI Assurance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24712" y="6062434"/>
            <a:ext cx="3163233" cy="561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3"/>
              </a:lnSpc>
            </a:pPr>
            <a:r>
              <a:rPr lang="en-US" sz="1516">
                <a:solidFill>
                  <a:srgbClr val="5A7A96"/>
                </a:solidFill>
                <a:latin typeface="Calibri (MS)"/>
                <a:ea typeface="Calibri (MS)"/>
                <a:cs typeface="Calibri (MS)"/>
                <a:sym typeface="Calibri (MS)"/>
              </a:rPr>
              <a:t>Browser-first control plane - no install needed,</a:t>
            </a:r>
            <a:r>
              <a:rPr lang="en-US" sz="15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516">
                <a:solidFill>
                  <a:srgbClr val="5A7A96"/>
                </a:solidFill>
                <a:latin typeface="Calibri (MS)"/>
                <a:ea typeface="Calibri (MS)"/>
                <a:cs typeface="Calibri (MS)"/>
                <a:sym typeface="Calibri (MS)"/>
              </a:rPr>
              <a:t>accessible</a:t>
            </a:r>
            <a:r>
              <a:rPr lang="en-US" sz="15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516">
                <a:solidFill>
                  <a:srgbClr val="5A7A96"/>
                </a:solidFill>
                <a:latin typeface="Calibri (MS)"/>
                <a:ea typeface="Calibri (MS)"/>
                <a:cs typeface="Calibri (MS)"/>
                <a:sym typeface="Calibri (MS)"/>
              </a:rPr>
              <a:t>from</a:t>
            </a:r>
            <a:r>
              <a:rPr lang="en-US" sz="15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516">
                <a:solidFill>
                  <a:srgbClr val="5A7A96"/>
                </a:solidFill>
                <a:latin typeface="Calibri (MS)"/>
                <a:ea typeface="Calibri (MS)"/>
                <a:cs typeface="Calibri (MS)"/>
                <a:sym typeface="Calibri (MS)"/>
              </a:rPr>
              <a:t>any</a:t>
            </a:r>
            <a:r>
              <a:rPr lang="en-US" sz="15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516">
                <a:solidFill>
                  <a:srgbClr val="5A7A96"/>
                </a:solidFill>
                <a:latin typeface="Calibri (MS)"/>
                <a:ea typeface="Calibri (MS)"/>
                <a:cs typeface="Calibri (MS)"/>
                <a:sym typeface="Calibri (MS)"/>
              </a:rPr>
              <a:t>device.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386330" y="6062434"/>
            <a:ext cx="3420961" cy="51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3"/>
              </a:lnSpc>
            </a:pPr>
            <a:r>
              <a:rPr lang="en-US" sz="1516">
                <a:solidFill>
                  <a:srgbClr val="5A7A96"/>
                </a:solidFill>
                <a:latin typeface="Calibri (MS)"/>
                <a:ea typeface="Calibri (MS)"/>
                <a:cs typeface="Calibri (MS)"/>
                <a:sym typeface="Calibri (MS)"/>
              </a:rPr>
              <a:t>Each experiment feeds structured evidence</a:t>
            </a:r>
            <a:r>
              <a:rPr lang="en-US" sz="15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516">
                <a:solidFill>
                  <a:srgbClr val="5A7A96"/>
                </a:solidFill>
                <a:latin typeface="Calibri (MS)"/>
                <a:ea typeface="Calibri (MS)"/>
                <a:cs typeface="Calibri (MS)"/>
                <a:sym typeface="Calibri (MS)"/>
              </a:rPr>
              <a:t>back</a:t>
            </a:r>
            <a:r>
              <a:rPr lang="en-US" sz="15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516">
                <a:solidFill>
                  <a:srgbClr val="5A7A96"/>
                </a:solidFill>
                <a:latin typeface="Calibri (MS)"/>
                <a:ea typeface="Calibri (MS)"/>
                <a:cs typeface="Calibri (MS)"/>
                <a:sym typeface="Calibri (MS)"/>
              </a:rPr>
              <a:t>to</a:t>
            </a:r>
            <a:r>
              <a:rPr lang="en-US" sz="15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516">
                <a:solidFill>
                  <a:srgbClr val="5A7A96"/>
                </a:solidFill>
                <a:latin typeface="Calibri (MS)"/>
                <a:ea typeface="Calibri (MS)"/>
                <a:cs typeface="Calibri (MS)"/>
                <a:sym typeface="Calibri (MS)"/>
              </a:rPr>
              <a:t>sharpen</a:t>
            </a:r>
            <a:r>
              <a:rPr lang="en-US" sz="15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516">
                <a:solidFill>
                  <a:srgbClr val="5A7A96"/>
                </a:solidFill>
                <a:latin typeface="Calibri (MS)"/>
                <a:ea typeface="Calibri (MS)"/>
                <a:cs typeface="Calibri (MS)"/>
                <a:sym typeface="Calibri (MS)"/>
              </a:rPr>
              <a:t>future</a:t>
            </a:r>
            <a:r>
              <a:rPr lang="en-US" sz="15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516">
                <a:solidFill>
                  <a:srgbClr val="5A7A96"/>
                </a:solidFill>
                <a:latin typeface="Calibri (MS)"/>
                <a:ea typeface="Calibri (MS)"/>
                <a:cs typeface="Calibri (MS)"/>
                <a:sym typeface="Calibri (MS)"/>
              </a:rPr>
              <a:t>detection.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48196" y="6062434"/>
            <a:ext cx="3376022" cy="51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3"/>
              </a:lnSpc>
            </a:pPr>
            <a:r>
              <a:rPr lang="en-US" sz="1516">
                <a:solidFill>
                  <a:srgbClr val="5A7A96"/>
                </a:solidFill>
                <a:latin typeface="Calibri (MS)"/>
                <a:ea typeface="Calibri (MS)"/>
                <a:cs typeface="Calibri (MS)"/>
                <a:sym typeface="Calibri (MS)"/>
              </a:rPr>
              <a:t>Plug Bayora into DevSecOps pipelines and enterprise</a:t>
            </a:r>
            <a:r>
              <a:rPr lang="en-US" sz="15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516">
                <a:solidFill>
                  <a:srgbClr val="5A7A96"/>
                </a:solidFill>
                <a:latin typeface="Calibri (MS)"/>
                <a:ea typeface="Calibri (MS)"/>
                <a:cs typeface="Calibri (MS)"/>
                <a:sym typeface="Calibri (MS)"/>
              </a:rPr>
              <a:t>AI</a:t>
            </a:r>
            <a:r>
              <a:rPr lang="en-US" sz="15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516">
                <a:solidFill>
                  <a:srgbClr val="5A7A96"/>
                </a:solidFill>
                <a:latin typeface="Calibri (MS)"/>
                <a:ea typeface="Calibri (MS)"/>
                <a:cs typeface="Calibri (MS)"/>
                <a:sym typeface="Calibri (MS)"/>
              </a:rPr>
              <a:t>governance</a:t>
            </a:r>
            <a:r>
              <a:rPr lang="en-US" sz="15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516">
                <a:solidFill>
                  <a:srgbClr val="5A7A96"/>
                </a:solidFill>
                <a:latin typeface="Calibri (MS)"/>
                <a:ea typeface="Calibri (MS)"/>
                <a:cs typeface="Calibri (MS)"/>
                <a:sym typeface="Calibri (MS)"/>
              </a:rPr>
              <a:t>workflows.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909796" y="6062434"/>
            <a:ext cx="2855900" cy="51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23"/>
              </a:lnSpc>
            </a:pPr>
            <a:r>
              <a:rPr lang="en-US" sz="1516">
                <a:solidFill>
                  <a:srgbClr val="5A7A96"/>
                </a:solidFill>
                <a:latin typeface="Calibri (MS)"/>
                <a:ea typeface="Calibri (MS)"/>
                <a:cs typeface="Calibri (MS)"/>
                <a:sym typeface="Calibri (MS)"/>
              </a:rPr>
              <a:t>Multi-region deployment with local compliance</a:t>
            </a:r>
            <a:r>
              <a:rPr lang="en-US" sz="15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516">
                <a:solidFill>
                  <a:srgbClr val="5A7A96"/>
                </a:solidFill>
                <a:latin typeface="Calibri (MS)"/>
                <a:ea typeface="Calibri (MS)"/>
                <a:cs typeface="Calibri (MS)"/>
                <a:sym typeface="Calibri (MS)"/>
              </a:rPr>
              <a:t>for</a:t>
            </a:r>
            <a:r>
              <a:rPr lang="en-US" sz="15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516">
                <a:solidFill>
                  <a:srgbClr val="5A7A96"/>
                </a:solidFill>
                <a:latin typeface="Calibri (MS)"/>
                <a:ea typeface="Calibri (MS)"/>
                <a:cs typeface="Calibri (MS)"/>
                <a:sym typeface="Calibri (MS)"/>
              </a:rPr>
              <a:t>AI</a:t>
            </a:r>
            <a:r>
              <a:rPr lang="en-US" sz="15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516">
                <a:solidFill>
                  <a:srgbClr val="5A7A96"/>
                </a:solidFill>
                <a:latin typeface="Calibri (MS)"/>
                <a:ea typeface="Calibri (MS)"/>
                <a:cs typeface="Calibri (MS)"/>
                <a:sym typeface="Calibri (MS)"/>
              </a:rPr>
              <a:t>teams</a:t>
            </a:r>
            <a:r>
              <a:rPr lang="en-US" sz="151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516">
                <a:solidFill>
                  <a:srgbClr val="5A7A96"/>
                </a:solidFill>
                <a:latin typeface="Calibri (MS)"/>
                <a:ea typeface="Calibri (MS)"/>
                <a:cs typeface="Calibri (MS)"/>
                <a:sym typeface="Calibri (MS)"/>
              </a:rPr>
              <a:t>worldwide.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4712" y="6995217"/>
            <a:ext cx="174441" cy="126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57"/>
              </a:lnSpc>
            </a:pPr>
            <a:r>
              <a:rPr lang="en-US" sz="1608">
                <a:solidFill>
                  <a:srgbClr val="00B4D8"/>
                </a:solidFill>
                <a:latin typeface="Cambria"/>
                <a:ea typeface="Cambria"/>
                <a:cs typeface="Cambria"/>
                <a:sym typeface="Cambria"/>
              </a:rPr>
              <a:t>▸ ▸ ▸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386330" y="6995217"/>
            <a:ext cx="174441" cy="170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57"/>
              </a:lnSpc>
            </a:pPr>
            <a:r>
              <a:rPr lang="en-US" sz="1608">
                <a:solidFill>
                  <a:srgbClr val="0077B6"/>
                </a:solidFill>
                <a:latin typeface="Cambria"/>
                <a:ea typeface="Cambria"/>
                <a:cs typeface="Cambria"/>
                <a:sym typeface="Cambria"/>
              </a:rPr>
              <a:t>▸ ▸ ▸ ▸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48196" y="6995217"/>
            <a:ext cx="174441" cy="170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57"/>
              </a:lnSpc>
            </a:pPr>
            <a:r>
              <a:rPr lang="en-US" sz="1608">
                <a:solidFill>
                  <a:srgbClr val="F4A020"/>
                </a:solidFill>
                <a:latin typeface="Cambria"/>
                <a:ea typeface="Cambria"/>
                <a:cs typeface="Cambria"/>
                <a:sym typeface="Cambria"/>
              </a:rPr>
              <a:t>▸ ▸ ▸ ▸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909796" y="6995217"/>
            <a:ext cx="174441" cy="170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57"/>
              </a:lnSpc>
            </a:pPr>
            <a:r>
              <a:rPr lang="en-US" sz="1608">
                <a:solidFill>
                  <a:srgbClr val="2E7D32"/>
                </a:solidFill>
                <a:latin typeface="Cambria"/>
                <a:ea typeface="Cambria"/>
                <a:cs typeface="Cambria"/>
                <a:sym typeface="Cambria"/>
              </a:rPr>
              <a:t>▸ ▸ ▸ ▸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11932" y="8402193"/>
            <a:ext cx="2138839" cy="30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608">
                <a:solidFill>
                  <a:srgbClr val="00B4D8"/>
                </a:solidFill>
                <a:latin typeface="Calibri (MS)"/>
                <a:ea typeface="Calibri (MS)"/>
                <a:cs typeface="Calibri (MS)"/>
                <a:sym typeface="Calibri (MS)"/>
              </a:rPr>
              <a:t>▸ </a:t>
            </a:r>
            <a:r>
              <a:rPr lang="en-US" sz="1608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Multi-user management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35024" y="6981882"/>
            <a:ext cx="2459431" cy="128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7"/>
              </a:lnSpc>
            </a:pPr>
            <a:r>
              <a:rPr lang="en-US" sz="1608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Experiment orchestration Red / Blue / LLM config Evidence &amp; replay dashboard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596642" y="8413623"/>
            <a:ext cx="2238775" cy="291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608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Human-in-the-loop review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596642" y="6981882"/>
            <a:ext cx="2216315" cy="128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7"/>
              </a:lnSpc>
            </a:pPr>
            <a:r>
              <a:rPr lang="en-US" sz="1608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Recurring attack patterns Evaluation dataset growth Regression test suites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858508" y="6981882"/>
            <a:ext cx="2257977" cy="172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7"/>
              </a:lnSpc>
            </a:pPr>
            <a:r>
              <a:rPr lang="en-US" sz="1608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CI/CD pipeline hooks</a:t>
            </a:r>
          </a:p>
          <a:p>
            <a:pPr algn="l">
              <a:lnSpc>
                <a:spcPts val="3457"/>
              </a:lnSpc>
            </a:pPr>
            <a:r>
              <a:rPr lang="en-US" sz="1608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SIEM / SOC connectors SSO &amp; RBAC support</a:t>
            </a:r>
          </a:p>
          <a:p>
            <a:pPr algn="l">
              <a:lnSpc>
                <a:spcPts val="3457"/>
              </a:lnSpc>
            </a:pPr>
            <a:r>
              <a:rPr lang="en-US" sz="1608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Audit &amp; compliance export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120108" y="6981882"/>
            <a:ext cx="2445163" cy="172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7"/>
              </a:lnSpc>
            </a:pPr>
            <a:r>
              <a:rPr lang="en-US" sz="1608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GDPR &amp; regional data laws Multi-tenant architecture Industry-specific frameworks Global trust assurance layer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63640" y="1667567"/>
            <a:ext cx="12908832" cy="971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6"/>
              </a:lnSpc>
            </a:pPr>
            <a:r>
              <a:rPr lang="en-US" b="true" sz="2004">
                <a:solidFill>
                  <a:srgbClr val="0E9FC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FUTURE SCOPE</a:t>
            </a:r>
          </a:p>
          <a:p>
            <a:pPr algn="l">
              <a:lnSpc>
                <a:spcPts val="4619"/>
              </a:lnSpc>
            </a:pPr>
            <a:r>
              <a:rPr lang="en-US" b="true" sz="3996">
                <a:solidFill>
                  <a:srgbClr val="0B2F4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From a secure testing arena to a </a:t>
            </a:r>
            <a:r>
              <a:rPr lang="en-US" b="true" sz="3996">
                <a:solidFill>
                  <a:srgbClr val="0E9FC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continuous assurance layer.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63640" y="2728932"/>
            <a:ext cx="13643543" cy="368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004">
                <a:solidFill>
                  <a:srgbClr val="4A5A68"/>
                </a:solidFill>
                <a:latin typeface="Calibri (MS)"/>
                <a:ea typeface="Calibri (MS)"/>
                <a:cs typeface="Calibri (MS)"/>
                <a:sym typeface="Calibri (MS)"/>
              </a:rPr>
              <a:t>Bayora grows from a controlled web environment into infrastructure that continuously evaluates, verifies and protects AI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DAHW65Iiu7Q</dc:identifier>
  <dcterms:modified xsi:type="dcterms:W3CDTF">2011-08-01T06:04:30Z</dcterms:modified>
  <cp:revision>1</cp:revision>
  <dc:title>AI Cybersecurity Hackathon Slide</dc:title>
</cp:coreProperties>
</file>